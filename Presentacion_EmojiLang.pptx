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CE92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2886" autoAdjust="0"/>
  </p:normalViewPr>
  <p:slideViewPr>
    <p:cSldViewPr snapToGrid="0" snapToObjects="1">
      <p:cViewPr varScale="1">
        <p:scale>
          <a:sx n="102" d="100"/>
          <a:sy n="102" d="100"/>
        </p:scale>
        <p:origin x="364" y="8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6C3825-FB12-44A8-97C1-E98DECFB0582}" type="datetimeFigureOut">
              <a:rPr lang="es-ES" smtClean="0"/>
              <a:t>08/10/2026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8A5021-876F-4D92-AB39-E6B93FEBC93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272078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8A5021-876F-4D92-AB39-E6B93FEBC93C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828041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B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294312" y="0"/>
            <a:ext cx="2897688" cy="6858000"/>
          </a:xfrm>
          <a:prstGeom prst="rect">
            <a:avLst/>
          </a:prstGeom>
          <a:solidFill>
            <a:srgbClr val="7CE92B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3" name="Rounded Rectangle 2"/>
          <p:cNvSpPr/>
          <p:nvPr/>
        </p:nvSpPr>
        <p:spPr>
          <a:xfrm>
            <a:off x="9417276" y="2103120"/>
            <a:ext cx="2651760" cy="2651760"/>
          </a:xfrm>
          <a:prstGeom prst="round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5" name="TextBox 4"/>
          <p:cNvSpPr txBox="1"/>
          <p:nvPr/>
        </p:nvSpPr>
        <p:spPr>
          <a:xfrm>
            <a:off x="822960" y="914400"/>
            <a:ext cx="7132320" cy="23698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300" b="1" noProof="0" dirty="0">
                <a:solidFill>
                  <a:srgbClr val="7CE92B"/>
                </a:solidFill>
                <a:latin typeface="Aptos"/>
              </a:rPr>
              <a:t>Lenguaje de programación inventado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53312"/>
            <a:ext cx="8046720" cy="10515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5200" b="1" noProof="0" dirty="0" err="1">
                <a:solidFill>
                  <a:srgbClr val="FFFFFF"/>
                </a:solidFill>
                <a:latin typeface="Aptos"/>
              </a:rPr>
              <a:t>EmojiLang</a:t>
            </a:r>
            <a:endParaRPr lang="es-ES" sz="5200" b="1" noProof="0" dirty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41248" y="2615184"/>
            <a:ext cx="6858000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2100" b="0" noProof="0" dirty="0">
                <a:solidFill>
                  <a:srgbClr val="F8F6EF"/>
                </a:solidFill>
                <a:latin typeface="Aptos"/>
              </a:rPr>
              <a:t>Programar también puede ser una conversación visual.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3895344"/>
            <a:ext cx="6400800" cy="1609344"/>
          </a:xfrm>
          <a:prstGeom prst="roundRect">
            <a:avLst/>
          </a:prstGeom>
          <a:solidFill>
            <a:srgbClr val="1F2D42"/>
          </a:solidFill>
          <a:ln>
            <a:solidFill>
              <a:srgbClr val="1F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1078992" y="4142232"/>
            <a:ext cx="1828800" cy="190821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000" b="1" noProof="0" dirty="0">
                <a:solidFill>
                  <a:srgbClr val="7CE92B"/>
                </a:solidFill>
                <a:latin typeface="Aptos"/>
              </a:rPr>
              <a:t>INTEGRANTES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4434840"/>
            <a:ext cx="4937760" cy="82176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700" noProof="0" dirty="0">
                <a:solidFill>
                  <a:srgbClr val="FFFFFF"/>
                </a:solidFill>
                <a:latin typeface="Aptos"/>
              </a:rPr>
              <a:t>Jorge Pérez</a:t>
            </a:r>
            <a:r>
              <a:rPr lang="es-ES" sz="1700" b="0" noProof="0" dirty="0">
                <a:solidFill>
                  <a:srgbClr val="FFFFFF"/>
                </a:solidFill>
                <a:latin typeface="Aptos"/>
              </a:rPr>
              <a:t>
</a:t>
            </a:r>
            <a:r>
              <a:rPr lang="es-ES" sz="1700" noProof="0" dirty="0">
                <a:solidFill>
                  <a:srgbClr val="FFFFFF"/>
                </a:solidFill>
                <a:latin typeface="Aptos"/>
              </a:rPr>
              <a:t>José </a:t>
            </a:r>
            <a:r>
              <a:rPr lang="es-ES" sz="1700" noProof="0" dirty="0" err="1">
                <a:solidFill>
                  <a:srgbClr val="FFFFFF"/>
                </a:solidFill>
                <a:latin typeface="Aptos"/>
              </a:rPr>
              <a:t>Ubiera</a:t>
            </a:r>
            <a:r>
              <a:rPr lang="es-ES" sz="1700" b="0" noProof="0" dirty="0">
                <a:solidFill>
                  <a:srgbClr val="FFFFFF"/>
                </a:solidFill>
                <a:latin typeface="Aptos"/>
              </a:rPr>
              <a:t>
Diego Santos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6236208"/>
            <a:ext cx="4572000" cy="190821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000" b="1" noProof="0" dirty="0">
                <a:solidFill>
                  <a:srgbClr val="7CE92B"/>
                </a:solidFill>
                <a:latin typeface="Aptos"/>
              </a:rPr>
              <a:t>Lenguajes y paradigmas · 2026</a:t>
            </a: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FC639260-A45C-EF5E-398C-201E52F9DB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1512" y="2384385"/>
            <a:ext cx="2089229" cy="208922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9184"/>
            <a:ext cx="7955279" cy="190821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000" b="1" noProof="0" dirty="0">
                <a:solidFill>
                  <a:srgbClr val="7CE92B"/>
                </a:solidFill>
                <a:latin typeface="Aptos"/>
              </a:rPr>
              <a:t>Índice 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9875520" cy="48320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2900" b="1" noProof="0" dirty="0">
                <a:solidFill>
                  <a:srgbClr val="121B2B"/>
                </a:solidFill>
                <a:latin typeface="Aptos"/>
              </a:rPr>
              <a:t>Un lenguaje con emojis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411480"/>
            <a:ext cx="777240" cy="190821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lang="es-ES" sz="1000" b="1" noProof="0" dirty="0">
                <a:latin typeface="Aptos"/>
              </a:rPr>
              <a:t>02 / 09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44752"/>
            <a:ext cx="10972800" cy="22860"/>
          </a:xfrm>
          <a:prstGeom prst="rect">
            <a:avLst/>
          </a:prstGeom>
          <a:solidFill>
            <a:srgbClr val="7CE92B"/>
          </a:solidFill>
          <a:ln>
            <a:solidFill>
              <a:srgbClr val="7CE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502920" cy="22159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200" b="1" noProof="0" dirty="0">
                <a:solidFill>
                  <a:srgbClr val="7CE92B"/>
                </a:solidFill>
                <a:latin typeface="Aptos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801368"/>
            <a:ext cx="237744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800" b="1" noProof="0" dirty="0">
                <a:solidFill>
                  <a:srgbClr val="121B2B"/>
                </a:solidFill>
                <a:latin typeface="Aptos"/>
              </a:rPr>
              <a:t>La idea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1828800"/>
            <a:ext cx="621792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500" b="0" noProof="0" dirty="0">
                <a:solidFill>
                  <a:srgbClr val="687485"/>
                </a:solidFill>
                <a:latin typeface="Aptos"/>
              </a:rPr>
              <a:t>Qué es </a:t>
            </a:r>
            <a:r>
              <a:rPr lang="es-ES" sz="1500" b="0" noProof="0" dirty="0" err="1">
                <a:solidFill>
                  <a:srgbClr val="687485"/>
                </a:solidFill>
                <a:latin typeface="Aptos"/>
              </a:rPr>
              <a:t>EmojiLang</a:t>
            </a:r>
            <a:r>
              <a:rPr lang="es-ES" sz="1500" b="0" noProof="0" dirty="0">
                <a:solidFill>
                  <a:srgbClr val="687485"/>
                </a:solidFill>
                <a:latin typeface="Aptos"/>
              </a:rPr>
              <a:t> y cómo se organiza</a:t>
            </a:r>
          </a:p>
        </p:txBody>
      </p:sp>
      <p:sp>
        <p:nvSpPr>
          <p:cNvPr id="9" name="Rectangle 8"/>
          <p:cNvSpPr/>
          <p:nvPr/>
        </p:nvSpPr>
        <p:spPr>
          <a:xfrm>
            <a:off x="1600200" y="2286000"/>
            <a:ext cx="9418320" cy="13716"/>
          </a:xfrm>
          <a:prstGeom prst="rect">
            <a:avLst/>
          </a:prstGeom>
          <a:solidFill>
            <a:srgbClr val="DCE1E4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822960" y="2606040"/>
            <a:ext cx="502920" cy="22159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200" b="1" noProof="0" dirty="0">
                <a:solidFill>
                  <a:srgbClr val="7CE92B"/>
                </a:solidFill>
                <a:latin typeface="Apto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578608"/>
            <a:ext cx="237744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800" b="1" noProof="0" dirty="0">
                <a:solidFill>
                  <a:srgbClr val="121B2B"/>
                </a:solidFill>
                <a:latin typeface="Aptos"/>
              </a:rPr>
              <a:t>El diccionario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2606040"/>
            <a:ext cx="621792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500" b="0" noProof="0" dirty="0">
                <a:solidFill>
                  <a:srgbClr val="687485"/>
                </a:solidFill>
                <a:latin typeface="Aptos"/>
              </a:rPr>
              <a:t>Emojis, operadores, tipos y alias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00200" y="3063240"/>
            <a:ext cx="9418320" cy="13716"/>
          </a:xfrm>
          <a:prstGeom prst="rect">
            <a:avLst/>
          </a:prstGeom>
          <a:solidFill>
            <a:srgbClr val="DCE1E4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822960" y="3383280"/>
            <a:ext cx="502920" cy="22159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200" b="1" noProof="0" dirty="0">
                <a:solidFill>
                  <a:srgbClr val="7CE92B"/>
                </a:solidFill>
                <a:latin typeface="Apto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3355848"/>
            <a:ext cx="237744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800" b="1" noProof="0" dirty="0">
                <a:solidFill>
                  <a:srgbClr val="121B2B"/>
                </a:solidFill>
                <a:latin typeface="Aptos"/>
              </a:rPr>
              <a:t>El intérprete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60520" y="3383280"/>
            <a:ext cx="621792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500" b="0" noProof="0" dirty="0">
                <a:solidFill>
                  <a:srgbClr val="687485"/>
                </a:solidFill>
                <a:latin typeface="Aptos"/>
              </a:rPr>
              <a:t>Cómo convierte los símbolos en acciones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3840480"/>
            <a:ext cx="9418320" cy="13716"/>
          </a:xfrm>
          <a:prstGeom prst="rect">
            <a:avLst/>
          </a:prstGeom>
          <a:solidFill>
            <a:srgbClr val="DCE1E4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18" name="TextBox 17"/>
          <p:cNvSpPr txBox="1"/>
          <p:nvPr/>
        </p:nvSpPr>
        <p:spPr>
          <a:xfrm>
            <a:off x="822960" y="4160520"/>
            <a:ext cx="502920" cy="22159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200" b="1" noProof="0" dirty="0">
                <a:solidFill>
                  <a:srgbClr val="7CE92B"/>
                </a:solidFill>
                <a:latin typeface="Apto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4133087"/>
            <a:ext cx="237744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800" b="1" noProof="0" dirty="0">
                <a:solidFill>
                  <a:srgbClr val="121B2B"/>
                </a:solidFill>
                <a:latin typeface="Aptos"/>
              </a:rPr>
              <a:t>Ejemplos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0520" y="4160520"/>
            <a:ext cx="621792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500" b="0" noProof="0" dirty="0">
                <a:solidFill>
                  <a:srgbClr val="687485"/>
                </a:solidFill>
                <a:latin typeface="Aptos"/>
              </a:rPr>
              <a:t>Calculadora, Fibonacci, texto y temperatura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00200" y="4617720"/>
            <a:ext cx="9418320" cy="13716"/>
          </a:xfrm>
          <a:prstGeom prst="rect">
            <a:avLst/>
          </a:prstGeom>
          <a:solidFill>
            <a:srgbClr val="DCE1E4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22" name="TextBox 21"/>
          <p:cNvSpPr txBox="1"/>
          <p:nvPr/>
        </p:nvSpPr>
        <p:spPr>
          <a:xfrm>
            <a:off x="822960" y="4937760"/>
            <a:ext cx="502920" cy="22159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200" b="1" noProof="0" dirty="0">
                <a:solidFill>
                  <a:srgbClr val="7CE92B"/>
                </a:solidFill>
                <a:latin typeface="Aptos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4910328"/>
            <a:ext cx="237744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800" b="1" noProof="0" dirty="0">
                <a:solidFill>
                  <a:srgbClr val="121B2B"/>
                </a:solidFill>
                <a:latin typeface="Aptos"/>
              </a:rPr>
              <a:t>La elección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0520" y="4937760"/>
            <a:ext cx="621792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500" b="0" noProof="0" dirty="0">
                <a:solidFill>
                  <a:srgbClr val="687485"/>
                </a:solidFill>
                <a:latin typeface="Aptos"/>
              </a:rPr>
              <a:t>Por qué diseñamos este lenguaje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00200" y="5394960"/>
            <a:ext cx="9418320" cy="13716"/>
          </a:xfrm>
          <a:prstGeom prst="rect">
            <a:avLst/>
          </a:prstGeom>
          <a:solidFill>
            <a:srgbClr val="DCE1E4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26" name="TextBox 25"/>
          <p:cNvSpPr txBox="1"/>
          <p:nvPr/>
        </p:nvSpPr>
        <p:spPr>
          <a:xfrm>
            <a:off x="603504" y="6510528"/>
            <a:ext cx="365760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800" b="1" noProof="0" dirty="0">
                <a:latin typeface="Aptos"/>
              </a:rPr>
              <a:t>EMOJILANG · UCJC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9184"/>
            <a:ext cx="7955279" cy="190821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000" b="1" noProof="0" dirty="0">
                <a:solidFill>
                  <a:srgbClr val="7CE92B"/>
                </a:solidFill>
                <a:latin typeface="Aptos"/>
              </a:rPr>
              <a:t>01 · FUNDAMENTOS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987552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2900" b="1" noProof="0" dirty="0">
                <a:solidFill>
                  <a:srgbClr val="121B2B"/>
                </a:solidFill>
                <a:latin typeface="Aptos"/>
              </a:rPr>
              <a:t>El diccionario de </a:t>
            </a:r>
            <a:r>
              <a:rPr lang="es-ES" sz="2900" b="1" noProof="0" dirty="0" err="1">
                <a:solidFill>
                  <a:srgbClr val="121B2B"/>
                </a:solidFill>
                <a:latin typeface="Aptos"/>
              </a:rPr>
              <a:t>EmojiLang</a:t>
            </a:r>
            <a:endParaRPr lang="es-ES" sz="2900" b="1" noProof="0" dirty="0">
              <a:solidFill>
                <a:srgbClr val="121B2B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0789920" y="411480"/>
            <a:ext cx="777240" cy="190821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lang="es-ES" sz="1000" b="1" noProof="0" dirty="0">
                <a:latin typeface="Aptos"/>
              </a:rPr>
              <a:t>03 / 09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44752"/>
            <a:ext cx="10972800" cy="22860"/>
          </a:xfrm>
          <a:prstGeom prst="rect">
            <a:avLst/>
          </a:prstGeom>
          <a:solidFill>
            <a:srgbClr val="7CE92B"/>
          </a:solidFill>
          <a:ln>
            <a:solidFill>
              <a:srgbClr val="7CE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621792" y="1673352"/>
            <a:ext cx="4846320" cy="22159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200" b="1" noProof="0" dirty="0" err="1">
                <a:solidFill>
                  <a:srgbClr val="7CE92B"/>
                </a:solidFill>
                <a:latin typeface="Consolas"/>
              </a:rPr>
              <a:t>diccionario_emojis</a:t>
            </a:r>
            <a:r>
              <a:rPr lang="es-ES" sz="1200" b="1" noProof="0" dirty="0">
                <a:solidFill>
                  <a:srgbClr val="7CE92B"/>
                </a:solidFill>
                <a:latin typeface="Consolas"/>
              </a:rPr>
              <a:t> (1).</a:t>
            </a:r>
            <a:r>
              <a:rPr lang="es-ES" sz="1200" b="1" noProof="0" dirty="0" err="1">
                <a:solidFill>
                  <a:srgbClr val="7CE92B"/>
                </a:solidFill>
                <a:latin typeface="Consolas"/>
              </a:rPr>
              <a:t>py</a:t>
            </a:r>
            <a:endParaRPr lang="es-ES" sz="1200" b="1" noProof="0" dirty="0">
              <a:solidFill>
                <a:srgbClr val="7CE92B"/>
              </a:solidFill>
              <a:latin typeface="Consola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21792" y="2011680"/>
            <a:ext cx="5120640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2200" b="1" noProof="0" dirty="0">
                <a:solidFill>
                  <a:srgbClr val="121B2B"/>
                </a:solidFill>
                <a:latin typeface="Aptos"/>
              </a:rPr>
              <a:t>Es la tabla de traducción oficial del lenguaje.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743200"/>
            <a:ext cx="5166360" cy="1858970"/>
          </a:xfrm>
          <a:prstGeom prst="rect">
            <a:avLst/>
          </a:prstGeom>
          <a:noFill/>
        </p:spPr>
        <p:txBody>
          <a:bodyPr wrap="square" lIns="36576" tIns="27432" rIns="36576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B2738"/>
                </a:solidFill>
                <a:latin typeface="Aptos"/>
              </a:defRPr>
            </a:pPr>
            <a:r>
              <a:rPr lang="es-ES" noProof="0" dirty="0"/>
              <a:t>• Asigna un significado a cada emoji.</a:t>
            </a:r>
          </a:p>
          <a:p>
            <a:pPr>
              <a:spcAft>
                <a:spcPts val="800"/>
              </a:spcAft>
              <a:defRPr sz="1600">
                <a:solidFill>
                  <a:srgbClr val="1B2738"/>
                </a:solidFill>
                <a:latin typeface="Aptos"/>
              </a:defRPr>
            </a:pPr>
            <a:r>
              <a:rPr lang="es-ES" noProof="0" dirty="0"/>
              <a:t>• Define comandos: imprimir, pedir datos, guardar, repetir y salir.</a:t>
            </a:r>
          </a:p>
          <a:p>
            <a:pPr>
              <a:spcAft>
                <a:spcPts val="800"/>
              </a:spcAft>
              <a:defRPr sz="1600">
                <a:solidFill>
                  <a:srgbClr val="1B2738"/>
                </a:solidFill>
                <a:latin typeface="Aptos"/>
              </a:defRPr>
            </a:pPr>
            <a:r>
              <a:rPr lang="es-ES" noProof="0" dirty="0"/>
              <a:t>• Incluye operadores, comparadores, tipos de datos y funciones.</a:t>
            </a:r>
          </a:p>
          <a:p>
            <a:pPr>
              <a:spcAft>
                <a:spcPts val="800"/>
              </a:spcAft>
              <a:defRPr sz="1600">
                <a:solidFill>
                  <a:srgbClr val="1B2738"/>
                </a:solidFill>
                <a:latin typeface="Aptos"/>
              </a:defRPr>
            </a:pPr>
            <a:r>
              <a:rPr lang="es-ES" noProof="0" dirty="0"/>
              <a:t>• Permite escribir alias como :suma, temperatura etc....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874519"/>
            <a:ext cx="4892040" cy="2331720"/>
          </a:xfrm>
          <a:prstGeom prst="roundRect">
            <a:avLst/>
          </a:prstGeom>
          <a:solidFill>
            <a:srgbClr val="121B2B"/>
          </a:solidFill>
          <a:ln>
            <a:solidFill>
              <a:srgbClr val="121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6601968" y="2020824"/>
            <a:ext cx="4526279" cy="17543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900" b="1" noProof="0" dirty="0">
                <a:solidFill>
                  <a:srgbClr val="7CE92B"/>
                </a:solidFill>
                <a:latin typeface="Aptos"/>
              </a:rPr>
              <a:t>SINTAXIS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1968" y="2350008"/>
            <a:ext cx="4489703" cy="170992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300" b="0" noProof="0" dirty="0">
                <a:solidFill>
                  <a:srgbClr val="FFFFFF"/>
                </a:solidFill>
                <a:latin typeface="Consolas"/>
              </a:rPr>
              <a:t>"🖨️": "IMPRIMIR"
"📦": "GUARDAR_VARIABLE"
"➕": "+"
"🌡️": "CONVERTIR_TEMPERATURA"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526280"/>
            <a:ext cx="224028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13" name="Rectangle 12"/>
          <p:cNvSpPr/>
          <p:nvPr/>
        </p:nvSpPr>
        <p:spPr>
          <a:xfrm>
            <a:off x="6400800" y="4526280"/>
            <a:ext cx="73152" cy="1051560"/>
          </a:xfrm>
          <a:prstGeom prst="rect">
            <a:avLst/>
          </a:prstGeom>
          <a:solidFill>
            <a:srgbClr val="7CE92B"/>
          </a:solidFill>
          <a:ln>
            <a:solidFill>
              <a:srgbClr val="7CE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6629400" y="4709160"/>
            <a:ext cx="18288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500" b="1" noProof="0" dirty="0">
                <a:solidFill>
                  <a:srgbClr val="121B2B"/>
                </a:solidFill>
                <a:latin typeface="Aptos"/>
              </a:rPr>
              <a:t>Comandos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5148072"/>
            <a:ext cx="1828800" cy="29260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300" b="0" noProof="0" dirty="0">
                <a:solidFill>
                  <a:srgbClr val="1B2738"/>
                </a:solidFill>
                <a:latin typeface="Aptos"/>
              </a:rPr>
              <a:t>🖨️  📦  🤔  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87968" y="4526280"/>
            <a:ext cx="2404872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17" name="Rectangle 16"/>
          <p:cNvSpPr/>
          <p:nvPr/>
        </p:nvSpPr>
        <p:spPr>
          <a:xfrm>
            <a:off x="8887968" y="4526280"/>
            <a:ext cx="73152" cy="1051560"/>
          </a:xfrm>
          <a:prstGeom prst="rect">
            <a:avLst/>
          </a:prstGeom>
          <a:solidFill>
            <a:srgbClr val="7CE92B"/>
          </a:solidFill>
          <a:ln>
            <a:solidFill>
              <a:srgbClr val="7CE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18" name="TextBox 17"/>
          <p:cNvSpPr txBox="1"/>
          <p:nvPr/>
        </p:nvSpPr>
        <p:spPr>
          <a:xfrm>
            <a:off x="9116568" y="4709160"/>
            <a:ext cx="1993391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500" b="1" noProof="0" dirty="0">
                <a:solidFill>
                  <a:srgbClr val="121B2B"/>
                </a:solidFill>
                <a:latin typeface="Aptos"/>
              </a:rPr>
              <a:t>Alias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16568" y="5148072"/>
            <a:ext cx="1993391" cy="29260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200" b="0" noProof="0" dirty="0">
                <a:solidFill>
                  <a:srgbClr val="1B2738"/>
                </a:solidFill>
                <a:latin typeface="Aptos"/>
              </a:rPr>
              <a:t>:suma:  :si:  :</a:t>
            </a:r>
            <a:r>
              <a:rPr lang="es-ES" sz="1200" b="0" noProof="0" dirty="0" err="1">
                <a:solidFill>
                  <a:srgbClr val="1B2738"/>
                </a:solidFill>
                <a:latin typeface="Aptos"/>
              </a:rPr>
              <a:t>celsius</a:t>
            </a:r>
            <a:r>
              <a:rPr lang="es-ES" sz="1200" b="0" noProof="0" dirty="0">
                <a:solidFill>
                  <a:srgbClr val="1B2738"/>
                </a:solidFill>
                <a:latin typeface="Aptos"/>
              </a:rPr>
              <a:t>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" y="6510528"/>
            <a:ext cx="365760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800" b="1" noProof="0" dirty="0">
                <a:latin typeface="Aptos"/>
              </a:rPr>
              <a:t>EMOJILANG · UCJC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9184"/>
            <a:ext cx="7955279" cy="190821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000" b="1" noProof="0" dirty="0">
                <a:solidFill>
                  <a:srgbClr val="7CE92B"/>
                </a:solidFill>
                <a:latin typeface="Aptos"/>
              </a:rPr>
              <a:t>02 · MOTOR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9875520" cy="48320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2900" b="1" noProof="0" dirty="0">
                <a:solidFill>
                  <a:srgbClr val="121B2B"/>
                </a:solidFill>
                <a:latin typeface="Aptos"/>
              </a:rPr>
              <a:t>El intérprete: pasar de un emoji a una acción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411480"/>
            <a:ext cx="777240" cy="190821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lang="es-ES" sz="1000" b="1" noProof="0" dirty="0">
                <a:latin typeface="Aptos"/>
              </a:rPr>
              <a:t>04 / 09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44752"/>
            <a:ext cx="10972800" cy="22860"/>
          </a:xfrm>
          <a:prstGeom prst="rect">
            <a:avLst/>
          </a:prstGeom>
          <a:solidFill>
            <a:srgbClr val="7CE92B"/>
          </a:solidFill>
          <a:ln>
            <a:solidFill>
              <a:srgbClr val="7CE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621792" y="1673352"/>
            <a:ext cx="3931920" cy="22159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200" b="1" noProof="0" dirty="0" err="1">
                <a:solidFill>
                  <a:srgbClr val="7CE92B"/>
                </a:solidFill>
                <a:latin typeface="Consolas"/>
              </a:rPr>
              <a:t>emojilang</a:t>
            </a:r>
            <a:r>
              <a:rPr lang="es-ES" sz="1200" b="1" noProof="0" dirty="0">
                <a:solidFill>
                  <a:srgbClr val="7CE92B"/>
                </a:solidFill>
                <a:latin typeface="Consolas"/>
              </a:rPr>
              <a:t> (1).</a:t>
            </a:r>
            <a:r>
              <a:rPr lang="es-ES" sz="1200" b="1" noProof="0" dirty="0" err="1">
                <a:solidFill>
                  <a:srgbClr val="7CE92B"/>
                </a:solidFill>
                <a:latin typeface="Consolas"/>
              </a:rPr>
              <a:t>py</a:t>
            </a:r>
            <a:endParaRPr lang="es-ES" sz="1200" b="1" noProof="0" dirty="0">
              <a:solidFill>
                <a:srgbClr val="7CE92B"/>
              </a:solidFill>
              <a:latin typeface="Consola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21792" y="2011680"/>
            <a:ext cx="5669280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2200" b="1" noProof="0" dirty="0">
                <a:solidFill>
                  <a:srgbClr val="121B2B"/>
                </a:solidFill>
                <a:latin typeface="Aptos"/>
              </a:rPr>
              <a:t>Un pequeño motor que ejecuta programas </a:t>
            </a:r>
            <a:r>
              <a:rPr lang="es-ES" sz="2200" b="1" noProof="0" dirty="0" err="1">
                <a:solidFill>
                  <a:srgbClr val="121B2B"/>
                </a:solidFill>
                <a:latin typeface="Aptos"/>
              </a:rPr>
              <a:t>EmojiLang</a:t>
            </a:r>
            <a:r>
              <a:rPr lang="es-ES" sz="2200" b="1" noProof="0" dirty="0">
                <a:solidFill>
                  <a:srgbClr val="121B2B"/>
                </a:solidFill>
                <a:latin typeface="Aptos"/>
              </a:rPr>
              <a:t>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926080"/>
            <a:ext cx="1508760" cy="1353312"/>
          </a:xfrm>
          <a:prstGeom prst="roundRect">
            <a:avLst/>
          </a:prstGeom>
          <a:solidFill>
            <a:srgbClr val="48C9CC"/>
          </a:solidFill>
          <a:ln>
            <a:solidFill>
              <a:srgbClr val="48C9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9" name="TextBox 8"/>
          <p:cNvSpPr txBox="1"/>
          <p:nvPr/>
        </p:nvSpPr>
        <p:spPr>
          <a:xfrm>
            <a:off x="841248" y="3127248"/>
            <a:ext cx="36576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100" b="1" noProof="0" dirty="0">
                <a:solidFill>
                  <a:srgbClr val="121B2B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8950" y="3080901"/>
            <a:ext cx="118872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700" b="1" noProof="0" dirty="0">
                <a:solidFill>
                  <a:srgbClr val="121B2B"/>
                </a:solidFill>
                <a:latin typeface="Aptos"/>
              </a:rPr>
              <a:t>Lee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401568"/>
            <a:ext cx="118872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100" b="0" noProof="0" dirty="0">
                <a:solidFill>
                  <a:srgbClr val="121B2B"/>
                </a:solidFill>
                <a:latin typeface="Aptos"/>
              </a:rPr>
              <a:t>separa el programa en líneas y bloques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06040" y="2926080"/>
            <a:ext cx="1508760" cy="1353312"/>
          </a:xfrm>
          <a:prstGeom prst="roundRect">
            <a:avLst/>
          </a:prstGeom>
          <a:solidFill>
            <a:srgbClr val="F6C14F"/>
          </a:solidFill>
          <a:ln>
            <a:solidFill>
              <a:srgbClr val="F6C1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2761488" y="3127248"/>
            <a:ext cx="36576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100" b="1" noProof="0" dirty="0">
                <a:solidFill>
                  <a:srgbClr val="121B2B"/>
                </a:solidFill>
                <a:latin typeface="Apto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26664" y="3090171"/>
            <a:ext cx="118872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700" b="1" noProof="0" dirty="0">
                <a:solidFill>
                  <a:srgbClr val="121B2B"/>
                </a:solidFill>
                <a:latin typeface="Aptos"/>
              </a:rPr>
              <a:t>Interpreta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0819" y="3427577"/>
            <a:ext cx="118872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100" b="0" noProof="0" dirty="0">
                <a:solidFill>
                  <a:srgbClr val="121B2B"/>
                </a:solidFill>
                <a:latin typeface="Aptos"/>
              </a:rPr>
              <a:t>reconoce comandos, variables y expresiones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26280" y="2926080"/>
            <a:ext cx="1508760" cy="1353312"/>
          </a:xfrm>
          <a:prstGeom prst="roundRect">
            <a:avLst/>
          </a:prstGeom>
          <a:solidFill>
            <a:srgbClr val="EF6F6C"/>
          </a:solidFill>
          <a:ln>
            <a:solidFill>
              <a:srgbClr val="EF6F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17" name="TextBox 16"/>
          <p:cNvSpPr txBox="1"/>
          <p:nvPr/>
        </p:nvSpPr>
        <p:spPr>
          <a:xfrm>
            <a:off x="4681728" y="3127248"/>
            <a:ext cx="36576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100" b="1" noProof="0" dirty="0">
                <a:solidFill>
                  <a:srgbClr val="121B2B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46904" y="3080776"/>
            <a:ext cx="118872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700" b="1" noProof="0" dirty="0">
                <a:solidFill>
                  <a:srgbClr val="121B2B"/>
                </a:solidFill>
                <a:latin typeface="Aptos"/>
              </a:rPr>
              <a:t>Ejecuta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3001" y="3451108"/>
            <a:ext cx="118872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100" b="0" noProof="0" dirty="0">
                <a:solidFill>
                  <a:srgbClr val="121B2B"/>
                </a:solidFill>
                <a:latin typeface="Aptos"/>
              </a:rPr>
              <a:t>calcula, pregunta datos y muestra resultados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12280" y="1965960"/>
            <a:ext cx="4434840" cy="2148840"/>
          </a:xfrm>
          <a:prstGeom prst="roundRect">
            <a:avLst/>
          </a:prstGeom>
          <a:solidFill>
            <a:srgbClr val="121B2B"/>
          </a:solidFill>
          <a:ln>
            <a:solidFill>
              <a:srgbClr val="121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21" name="TextBox 20"/>
          <p:cNvSpPr txBox="1"/>
          <p:nvPr/>
        </p:nvSpPr>
        <p:spPr>
          <a:xfrm>
            <a:off x="7013448" y="2112264"/>
            <a:ext cx="4069079" cy="17543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900" b="1" noProof="0" dirty="0">
                <a:solidFill>
                  <a:srgbClr val="7CE92B"/>
                </a:solidFill>
                <a:latin typeface="Aptos"/>
              </a:rPr>
              <a:t>EJEMPLO DE EJECUCIÓN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13448" y="2441448"/>
            <a:ext cx="4032503" cy="152704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300" b="0" noProof="0" dirty="0">
                <a:solidFill>
                  <a:srgbClr val="FFFFFF"/>
                </a:solidFill>
                <a:latin typeface="Consolas"/>
              </a:rPr>
              <a:t>📦 resultado = 8 ➕ 4
🖨️ resultado
→ 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9712" y="4480560"/>
            <a:ext cx="416052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700" b="1" noProof="0" dirty="0">
                <a:solidFill>
                  <a:srgbClr val="1B2738"/>
                </a:solidFill>
                <a:latin typeface="Aptos"/>
              </a:rPr>
              <a:t>También controla errores, condiciones y bucles con llaves { }.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" y="6510528"/>
            <a:ext cx="365760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800" b="1" noProof="0" dirty="0">
                <a:latin typeface="Aptos"/>
              </a:rPr>
              <a:t>EMOJILANG · UCJC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9184"/>
            <a:ext cx="7955279" cy="190821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000" b="1" noProof="0" dirty="0">
                <a:solidFill>
                  <a:srgbClr val="7CE92B"/>
                </a:solidFill>
                <a:latin typeface="Aptos"/>
              </a:rPr>
              <a:t>03 · EJEMPLO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987552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2900" b="1" noProof="0" dirty="0">
                <a:solidFill>
                  <a:srgbClr val="121B2B"/>
                </a:solidFill>
                <a:latin typeface="Aptos"/>
              </a:rPr>
              <a:t>Calculadora interactiva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411480"/>
            <a:ext cx="777240" cy="190821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lang="es-ES" sz="1000" b="1" noProof="0" dirty="0">
                <a:latin typeface="Aptos"/>
              </a:rPr>
              <a:t>05 / 09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44752"/>
            <a:ext cx="10972800" cy="22860"/>
          </a:xfrm>
          <a:prstGeom prst="rect">
            <a:avLst/>
          </a:prstGeom>
          <a:solidFill>
            <a:srgbClr val="7CE92B"/>
          </a:solidFill>
          <a:ln>
            <a:solidFill>
              <a:srgbClr val="7CE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621792" y="1673352"/>
            <a:ext cx="5394960" cy="22159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200" b="1" noProof="0" dirty="0">
                <a:solidFill>
                  <a:srgbClr val="7CE92B"/>
                </a:solidFill>
                <a:latin typeface="Consolas"/>
              </a:rPr>
              <a:t>calculadora.py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029968"/>
            <a:ext cx="5486400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2100" b="1" noProof="0" dirty="0">
                <a:solidFill>
                  <a:srgbClr val="121B2B"/>
                </a:solidFill>
                <a:latin typeface="Aptos"/>
              </a:rPr>
              <a:t>Una calculadora escrita con menús y emojis.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788920"/>
            <a:ext cx="5303520" cy="2240280"/>
          </a:xfrm>
          <a:prstGeom prst="rect">
            <a:avLst/>
          </a:prstGeom>
          <a:noFill/>
        </p:spPr>
        <p:txBody>
          <a:bodyPr wrap="square" lIns="36576" tIns="27432" rIns="36576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B2738"/>
                </a:solidFill>
                <a:latin typeface="Aptos"/>
              </a:defRPr>
            </a:pPr>
            <a:r>
              <a:rPr lang="es-ES" noProof="0" dirty="0"/>
              <a:t>• Presenta las opciones Calcular o Salir.</a:t>
            </a:r>
          </a:p>
          <a:p>
            <a:pPr>
              <a:spcAft>
                <a:spcPts val="800"/>
              </a:spcAft>
              <a:defRPr sz="1600">
                <a:solidFill>
                  <a:srgbClr val="1B2738"/>
                </a:solidFill>
                <a:latin typeface="Aptos"/>
              </a:defRPr>
            </a:pPr>
            <a:r>
              <a:rPr lang="es-ES" noProof="0" dirty="0"/>
              <a:t>• Recibe una operación, por ejemplo: 12 + 4.</a:t>
            </a:r>
          </a:p>
          <a:p>
            <a:pPr>
              <a:spcAft>
                <a:spcPts val="800"/>
              </a:spcAft>
              <a:defRPr sz="1600">
                <a:solidFill>
                  <a:srgbClr val="1B2738"/>
                </a:solidFill>
                <a:latin typeface="Aptos"/>
              </a:defRPr>
            </a:pPr>
            <a:r>
              <a:rPr lang="es-ES" noProof="0" dirty="0"/>
              <a:t>• Guarda el resultado en una variable y lo imprime.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1828800"/>
            <a:ext cx="4892040" cy="2423160"/>
          </a:xfrm>
          <a:prstGeom prst="roundRect">
            <a:avLst/>
          </a:prstGeom>
          <a:solidFill>
            <a:srgbClr val="121B2B"/>
          </a:solidFill>
          <a:ln>
            <a:solidFill>
              <a:srgbClr val="121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6647688" y="1975104"/>
            <a:ext cx="4526279" cy="17543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900" b="1" noProof="0" dirty="0">
                <a:solidFill>
                  <a:srgbClr val="7CE92B"/>
                </a:solidFill>
                <a:latin typeface="Aptos"/>
              </a:rPr>
              <a:t>SINTAXIS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47688" y="2304288"/>
            <a:ext cx="4489703" cy="180136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300" b="0" noProof="0" dirty="0">
                <a:solidFill>
                  <a:srgbClr val="FFFFFF"/>
                </a:solidFill>
                <a:latin typeface="Consolas"/>
              </a:rPr>
              <a:t>🖨️ "1️⃣ Calcular"
⌨️ operación
📦 🍎 = 🧮 operación
🖨️ 🍎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4617720"/>
            <a:ext cx="4892040" cy="868680"/>
          </a:xfrm>
          <a:prstGeom prst="roundRect">
            <a:avLst/>
          </a:prstGeom>
          <a:solidFill>
            <a:srgbClr val="7CE92B"/>
          </a:solidFill>
          <a:ln>
            <a:solidFill>
              <a:srgbClr val="7CE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6656832" y="4782312"/>
            <a:ext cx="210312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900" b="1" noProof="0" dirty="0">
                <a:solidFill>
                  <a:srgbClr val="121B2B"/>
                </a:solidFill>
                <a:latin typeface="Aptos"/>
              </a:rPr>
              <a:t>RESULTADO / EXPERIENCIA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5029200"/>
            <a:ext cx="4343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600" b="1" noProof="0" dirty="0">
                <a:solidFill>
                  <a:srgbClr val="121B2B"/>
                </a:solidFill>
                <a:latin typeface="Aptos"/>
              </a:rPr>
              <a:t>Entrada: 12 + 4   →   Salida: 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6510528"/>
            <a:ext cx="365760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800" b="1" noProof="0" dirty="0">
                <a:latin typeface="Aptos"/>
              </a:rPr>
              <a:t>EMOJILANG · UCJC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9184"/>
            <a:ext cx="7955279" cy="190821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000" b="1" noProof="0" dirty="0">
                <a:solidFill>
                  <a:srgbClr val="7CE92B"/>
                </a:solidFill>
                <a:latin typeface="Aptos"/>
              </a:rPr>
              <a:t>04 · EJEMPLO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987552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2900" b="1" noProof="0" dirty="0">
                <a:solidFill>
                  <a:srgbClr val="121B2B"/>
                </a:solidFill>
                <a:latin typeface="Aptos"/>
              </a:rPr>
              <a:t>Secuencia de Fibonacci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411480"/>
            <a:ext cx="777240" cy="190821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lang="es-ES" sz="1000" b="1" noProof="0" dirty="0">
                <a:latin typeface="Aptos"/>
              </a:rPr>
              <a:t>06 / 09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44752"/>
            <a:ext cx="10972800" cy="22860"/>
          </a:xfrm>
          <a:prstGeom prst="rect">
            <a:avLst/>
          </a:prstGeom>
          <a:solidFill>
            <a:srgbClr val="7CE92B"/>
          </a:solidFill>
          <a:ln>
            <a:solidFill>
              <a:srgbClr val="7CE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621792" y="1673352"/>
            <a:ext cx="5394960" cy="22159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200" b="1" noProof="0" dirty="0">
                <a:solidFill>
                  <a:srgbClr val="7CE92B"/>
                </a:solidFill>
                <a:latin typeface="Consolas"/>
              </a:rPr>
              <a:t>fibonacci2.py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029968"/>
            <a:ext cx="5486400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2100" b="1" noProof="0" dirty="0">
                <a:solidFill>
                  <a:srgbClr val="121B2B"/>
                </a:solidFill>
                <a:latin typeface="Aptos"/>
              </a:rPr>
              <a:t>Un bucle genera tantos términos como indique el usuario.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788920"/>
            <a:ext cx="5303520" cy="2240280"/>
          </a:xfrm>
          <a:prstGeom prst="rect">
            <a:avLst/>
          </a:prstGeom>
          <a:noFill/>
        </p:spPr>
        <p:txBody>
          <a:bodyPr wrap="square" lIns="36576" tIns="27432" rIns="36576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B2738"/>
                </a:solidFill>
                <a:latin typeface="Aptos"/>
              </a:defRPr>
            </a:pPr>
            <a:r>
              <a:rPr lang="es-ES" noProof="0" dirty="0"/>
              <a:t>• Empieza con 0 y 1.</a:t>
            </a:r>
          </a:p>
          <a:p>
            <a:pPr>
              <a:spcAft>
                <a:spcPts val="800"/>
              </a:spcAft>
              <a:defRPr sz="1600">
                <a:solidFill>
                  <a:srgbClr val="1B2738"/>
                </a:solidFill>
                <a:latin typeface="Aptos"/>
              </a:defRPr>
            </a:pPr>
            <a:r>
              <a:rPr lang="es-ES" noProof="0" dirty="0"/>
              <a:t>• En cada vuelta suma los dos valores anteriores.</a:t>
            </a:r>
          </a:p>
          <a:p>
            <a:pPr>
              <a:spcAft>
                <a:spcPts val="800"/>
              </a:spcAft>
              <a:defRPr sz="1600">
                <a:solidFill>
                  <a:srgbClr val="1B2738"/>
                </a:solidFill>
                <a:latin typeface="Aptos"/>
              </a:defRPr>
            </a:pPr>
            <a:r>
              <a:rPr lang="es-ES" noProof="0" dirty="0"/>
              <a:t>• Valida que el número de términos sea mayor que cero.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1828800"/>
            <a:ext cx="4892040" cy="2423160"/>
          </a:xfrm>
          <a:prstGeom prst="roundRect">
            <a:avLst/>
          </a:prstGeom>
          <a:solidFill>
            <a:srgbClr val="121B2B"/>
          </a:solidFill>
          <a:ln>
            <a:solidFill>
              <a:srgbClr val="121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6647688" y="1975104"/>
            <a:ext cx="4526279" cy="17543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900" b="1" noProof="0" dirty="0">
                <a:solidFill>
                  <a:srgbClr val="7CE92B"/>
                </a:solidFill>
                <a:latin typeface="Aptos"/>
              </a:rPr>
              <a:t>SINTAXIS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47688" y="2304288"/>
            <a:ext cx="4489703" cy="180136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300" b="0" noProof="0" dirty="0">
                <a:solidFill>
                  <a:srgbClr val="FFFFFF"/>
                </a:solidFill>
                <a:latin typeface="Consolas"/>
              </a:rPr>
              <a:t>📦 🅰️ = 0
📦 🅱️ = 1
🔄 ⭐ {
  🖨️ 🅰️
}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4617720"/>
            <a:ext cx="4892040" cy="868680"/>
          </a:xfrm>
          <a:prstGeom prst="roundRect">
            <a:avLst/>
          </a:prstGeom>
          <a:solidFill>
            <a:srgbClr val="7CE92B"/>
          </a:solidFill>
          <a:ln>
            <a:solidFill>
              <a:srgbClr val="7CE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6656832" y="4782312"/>
            <a:ext cx="210312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900" b="1" noProof="0" dirty="0">
                <a:solidFill>
                  <a:srgbClr val="121B2B"/>
                </a:solidFill>
                <a:latin typeface="Aptos"/>
              </a:rPr>
              <a:t>RESULTADO / EXPERIENCIA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5029200"/>
            <a:ext cx="4343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600" b="1" noProof="0" dirty="0">
                <a:solidFill>
                  <a:srgbClr val="121B2B"/>
                </a:solidFill>
                <a:latin typeface="Aptos"/>
              </a:rPr>
              <a:t>Entrada: 6   →   0, 1, 1, 2, 3, 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6510528"/>
            <a:ext cx="365760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800" b="1" noProof="0" dirty="0">
                <a:latin typeface="Aptos"/>
              </a:rPr>
              <a:t>EMOJILANG · UCJC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9184"/>
            <a:ext cx="7955279" cy="190821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000" b="1" noProof="0" dirty="0">
                <a:solidFill>
                  <a:srgbClr val="7CE92B"/>
                </a:solidFill>
                <a:latin typeface="Aptos"/>
              </a:rPr>
              <a:t>05 · EJEMPLO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9875520" cy="48320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2900" b="1" noProof="0" dirty="0">
                <a:solidFill>
                  <a:srgbClr val="121B2B"/>
                </a:solidFill>
                <a:latin typeface="Aptos"/>
              </a:rPr>
              <a:t>Reemplazo de letras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411480"/>
            <a:ext cx="777240" cy="190821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lang="es-ES" sz="1000" b="1" noProof="0" dirty="0">
                <a:latin typeface="Aptos"/>
              </a:rPr>
              <a:t>07 / 09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44752"/>
            <a:ext cx="10972800" cy="22860"/>
          </a:xfrm>
          <a:prstGeom prst="rect">
            <a:avLst/>
          </a:prstGeom>
          <a:solidFill>
            <a:srgbClr val="7CE92B"/>
          </a:solidFill>
          <a:ln>
            <a:solidFill>
              <a:srgbClr val="7CE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621792" y="1673352"/>
            <a:ext cx="5394960" cy="22159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200" b="1" noProof="0" dirty="0">
                <a:solidFill>
                  <a:srgbClr val="7CE92B"/>
                </a:solidFill>
                <a:latin typeface="Consolas"/>
              </a:rPr>
              <a:t>RemplazoPalabras.py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029968"/>
            <a:ext cx="5486400" cy="68326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2100" b="1" noProof="0" dirty="0">
                <a:solidFill>
                  <a:srgbClr val="121B2B"/>
                </a:solidFill>
                <a:latin typeface="Aptos"/>
              </a:rPr>
              <a:t>Una operación sencilla para transformar letras.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788920"/>
            <a:ext cx="5303520" cy="1017715"/>
          </a:xfrm>
          <a:prstGeom prst="rect">
            <a:avLst/>
          </a:prstGeom>
          <a:noFill/>
        </p:spPr>
        <p:txBody>
          <a:bodyPr wrap="square" lIns="36576" tIns="27432" rIns="36576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B2738"/>
                </a:solidFill>
                <a:latin typeface="Aptos"/>
              </a:defRPr>
            </a:pPr>
            <a:r>
              <a:rPr lang="es-ES" noProof="0" dirty="0"/>
              <a:t>• Pide un texto original.</a:t>
            </a:r>
          </a:p>
          <a:p>
            <a:pPr>
              <a:spcAft>
                <a:spcPts val="800"/>
              </a:spcAft>
              <a:defRPr sz="1600">
                <a:solidFill>
                  <a:srgbClr val="1B2738"/>
                </a:solidFill>
                <a:latin typeface="Aptos"/>
              </a:defRPr>
            </a:pPr>
            <a:r>
              <a:rPr lang="es-ES" noProof="0" dirty="0"/>
              <a:t>• Pide la letra que se busca y su sustituta.</a:t>
            </a:r>
          </a:p>
          <a:p>
            <a:pPr>
              <a:spcAft>
                <a:spcPts val="800"/>
              </a:spcAft>
              <a:defRPr sz="1600">
                <a:solidFill>
                  <a:srgbClr val="1B2738"/>
                </a:solidFill>
                <a:latin typeface="Aptos"/>
              </a:defRPr>
            </a:pPr>
            <a:r>
              <a:rPr lang="es-ES" noProof="0" dirty="0"/>
              <a:t>• Usa 🔧 para reemplazar y muestra el nuevo texto.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1828800"/>
            <a:ext cx="4892040" cy="2423160"/>
          </a:xfrm>
          <a:prstGeom prst="roundRect">
            <a:avLst/>
          </a:prstGeom>
          <a:solidFill>
            <a:srgbClr val="121B2B"/>
          </a:solidFill>
          <a:ln>
            <a:solidFill>
              <a:srgbClr val="121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6647688" y="1975104"/>
            <a:ext cx="4526279" cy="17543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900" b="1" noProof="0" dirty="0">
                <a:solidFill>
                  <a:srgbClr val="7CE92B"/>
                </a:solidFill>
                <a:latin typeface="Aptos"/>
              </a:rPr>
              <a:t>SINTAXIS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47688" y="2304288"/>
            <a:ext cx="4489703" cy="180136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300" b="0" noProof="0" dirty="0">
                <a:solidFill>
                  <a:srgbClr val="FFFFFF"/>
                </a:solidFill>
                <a:latin typeface="Consolas"/>
              </a:rPr>
              <a:t>⌨️ 🧾  texto
⌨️ 🔎  buscar
⌨️ ✨  sustituir
📦 📄 = 🔧 🧾 🔎 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4617719"/>
            <a:ext cx="4892040" cy="1050307"/>
          </a:xfrm>
          <a:prstGeom prst="roundRect">
            <a:avLst/>
          </a:prstGeom>
          <a:solidFill>
            <a:srgbClr val="7CE92B"/>
          </a:solidFill>
          <a:ln>
            <a:solidFill>
              <a:srgbClr val="7CE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6656832" y="4782312"/>
            <a:ext cx="210312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900" b="1" noProof="0" dirty="0">
                <a:solidFill>
                  <a:srgbClr val="121B2B"/>
                </a:solidFill>
                <a:latin typeface="Aptos"/>
              </a:rPr>
              <a:t>RESULTADO / EXPERIENCIA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5029200"/>
            <a:ext cx="4343400" cy="28315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600" b="1" noProof="0" dirty="0">
                <a:solidFill>
                  <a:srgbClr val="121B2B"/>
                </a:solidFill>
                <a:latin typeface="Aptos"/>
              </a:rPr>
              <a:t>"Hola mundo" → cambiar “a" por “e"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6510528"/>
            <a:ext cx="365760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800" b="1" noProof="0" dirty="0">
                <a:latin typeface="Aptos"/>
              </a:rPr>
              <a:t>EMOJILANG · UCJC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9184"/>
            <a:ext cx="7955279" cy="190821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000" b="1" noProof="0" dirty="0">
                <a:solidFill>
                  <a:srgbClr val="7CE92B"/>
                </a:solidFill>
                <a:latin typeface="Aptos"/>
              </a:rPr>
              <a:t>06 · EJEMPLO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987552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2900" b="1" noProof="0" dirty="0">
                <a:solidFill>
                  <a:srgbClr val="121B2B"/>
                </a:solidFill>
                <a:latin typeface="Aptos"/>
              </a:rPr>
              <a:t>Conversor de temperatura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411480"/>
            <a:ext cx="777240" cy="190821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lang="es-ES" sz="1000" b="1" noProof="0" dirty="0">
                <a:latin typeface="Aptos"/>
              </a:rPr>
              <a:t>08 / 09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444752"/>
            <a:ext cx="10972800" cy="22860"/>
          </a:xfrm>
          <a:prstGeom prst="rect">
            <a:avLst/>
          </a:prstGeom>
          <a:solidFill>
            <a:srgbClr val="7CE92B"/>
          </a:solidFill>
          <a:ln>
            <a:solidFill>
              <a:srgbClr val="7CE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621792" y="1673352"/>
            <a:ext cx="5394960" cy="221599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200" b="1" noProof="0" dirty="0">
                <a:solidFill>
                  <a:srgbClr val="7CE92B"/>
                </a:solidFill>
                <a:latin typeface="Consolas"/>
              </a:rPr>
              <a:t>Temperatura.py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029968"/>
            <a:ext cx="5486400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2100" b="1" noProof="0" dirty="0">
                <a:solidFill>
                  <a:srgbClr val="121B2B"/>
                </a:solidFill>
                <a:latin typeface="Aptos"/>
              </a:rPr>
              <a:t>Convierte entre Celsius, Fahrenheit y Kelvin.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788920"/>
            <a:ext cx="5303520" cy="2240280"/>
          </a:xfrm>
          <a:prstGeom prst="rect">
            <a:avLst/>
          </a:prstGeom>
          <a:noFill/>
        </p:spPr>
        <p:txBody>
          <a:bodyPr wrap="square" lIns="36576" tIns="27432" rIns="36576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B2738"/>
                </a:solidFill>
                <a:latin typeface="Aptos"/>
              </a:defRPr>
            </a:pPr>
            <a:r>
              <a:rPr lang="es-ES" noProof="0" dirty="0"/>
              <a:t>• Solicita el valor y la unidad de origen.</a:t>
            </a:r>
          </a:p>
          <a:p>
            <a:pPr>
              <a:spcAft>
                <a:spcPts val="800"/>
              </a:spcAft>
              <a:defRPr sz="1600">
                <a:solidFill>
                  <a:srgbClr val="1B2738"/>
                </a:solidFill>
                <a:latin typeface="Aptos"/>
              </a:defRPr>
            </a:pPr>
            <a:r>
              <a:rPr lang="es-ES" noProof="0" dirty="0"/>
              <a:t>• Solicita la unidad de destino.</a:t>
            </a:r>
          </a:p>
          <a:p>
            <a:pPr>
              <a:spcAft>
                <a:spcPts val="800"/>
              </a:spcAft>
              <a:defRPr sz="1600">
                <a:solidFill>
                  <a:srgbClr val="1B2738"/>
                </a:solidFill>
                <a:latin typeface="Aptos"/>
              </a:defRPr>
            </a:pPr>
            <a:r>
              <a:rPr lang="es-ES" noProof="0" dirty="0"/>
              <a:t>• 🌡️ realiza la conversión y muestra el resultado.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46520" y="1828800"/>
            <a:ext cx="4892040" cy="2423160"/>
          </a:xfrm>
          <a:prstGeom prst="roundRect">
            <a:avLst/>
          </a:prstGeom>
          <a:solidFill>
            <a:srgbClr val="121B2B"/>
          </a:solidFill>
          <a:ln>
            <a:solidFill>
              <a:srgbClr val="121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6647688" y="1975104"/>
            <a:ext cx="4526279" cy="175433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900" b="1" noProof="0" dirty="0">
                <a:solidFill>
                  <a:srgbClr val="7CE92B"/>
                </a:solidFill>
                <a:latin typeface="Aptos"/>
              </a:rPr>
              <a:t>SINTAXIS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47688" y="2304288"/>
            <a:ext cx="4489703" cy="1801367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300" b="0" noProof="0" dirty="0">
                <a:solidFill>
                  <a:srgbClr val="FFFFFF"/>
                </a:solidFill>
                <a:latin typeface="Consolas"/>
              </a:rPr>
              <a:t>⌨️ 🧪  valor
⌨️ 🅾️  origen
⌨️ 🅳  destino
📦 🆁 = 🌡️ 🧪 🅾️ 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46520" y="4617720"/>
            <a:ext cx="4892040" cy="868680"/>
          </a:xfrm>
          <a:prstGeom prst="roundRect">
            <a:avLst/>
          </a:prstGeom>
          <a:solidFill>
            <a:srgbClr val="7CE92B"/>
          </a:solidFill>
          <a:ln>
            <a:solidFill>
              <a:srgbClr val="7CE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13" name="TextBox 12"/>
          <p:cNvSpPr txBox="1"/>
          <p:nvPr/>
        </p:nvSpPr>
        <p:spPr>
          <a:xfrm>
            <a:off x="6656832" y="4782312"/>
            <a:ext cx="210312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900" b="1" noProof="0" dirty="0">
                <a:solidFill>
                  <a:srgbClr val="121B2B"/>
                </a:solidFill>
                <a:latin typeface="Aptos"/>
              </a:rPr>
              <a:t>RESULTADO / EXPERIENCIA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5029200"/>
            <a:ext cx="4343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600" b="1" noProof="0" dirty="0">
                <a:solidFill>
                  <a:srgbClr val="121B2B"/>
                </a:solidFill>
                <a:latin typeface="Aptos"/>
              </a:rPr>
              <a:t>25 °C   →   77 °F   →   298.15 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6510528"/>
            <a:ext cx="3657600" cy="16459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800" b="1" noProof="0" dirty="0">
                <a:latin typeface="Aptos"/>
              </a:rPr>
              <a:t>EMOJILANG · UCJC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B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49808" y="594360"/>
            <a:ext cx="2743200" cy="20621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100" b="1" noProof="0" dirty="0">
                <a:solidFill>
                  <a:srgbClr val="7CE92B"/>
                </a:solidFill>
                <a:latin typeface="Aptos"/>
              </a:rPr>
              <a:t>07 · CIERRE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024128"/>
            <a:ext cx="77724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3800" b="1" noProof="0" dirty="0">
                <a:solidFill>
                  <a:srgbClr val="FFFFFF"/>
                </a:solidFill>
                <a:latin typeface="Aptos"/>
              </a:rPr>
              <a:t>¿Por qué </a:t>
            </a:r>
            <a:r>
              <a:rPr lang="es-ES" sz="3800" b="1" noProof="0" dirty="0" err="1">
                <a:solidFill>
                  <a:srgbClr val="FFFFFF"/>
                </a:solidFill>
                <a:latin typeface="Aptos"/>
              </a:rPr>
              <a:t>EmojiLang</a:t>
            </a:r>
            <a:r>
              <a:rPr lang="es-ES" sz="3800" b="1" noProof="0" dirty="0">
                <a:solidFill>
                  <a:srgbClr val="FFFFFF"/>
                </a:solidFill>
                <a:latin typeface="Aptos"/>
              </a:rPr>
              <a:t>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883664"/>
            <a:ext cx="7955279" cy="777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2100" b="0" noProof="0" dirty="0">
                <a:solidFill>
                  <a:srgbClr val="F8F6EF"/>
                </a:solidFill>
                <a:latin typeface="Aptos"/>
              </a:rPr>
              <a:t>Elegimos este lenguaje porque convierte la programación en algo visual, cercano y fácil de recordar.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154680"/>
            <a:ext cx="2423160" cy="1737360"/>
          </a:xfrm>
          <a:prstGeom prst="roundRect">
            <a:avLst/>
          </a:prstGeom>
          <a:solidFill>
            <a:srgbClr val="1F2D42"/>
          </a:solidFill>
          <a:ln>
            <a:solidFill>
              <a:srgbClr val="1F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960120" y="3401568"/>
            <a:ext cx="50292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2500" b="0" noProof="0" dirty="0">
                <a:solidFill>
                  <a:srgbClr val="FFFFFF"/>
                </a:solidFill>
                <a:latin typeface="Aptos"/>
              </a:rPr>
              <a:t>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3493008"/>
            <a:ext cx="1920240" cy="28315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600" b="1" noProof="0" dirty="0">
                <a:solidFill>
                  <a:srgbClr val="7CE92B"/>
                </a:solidFill>
                <a:latin typeface="Aptos"/>
              </a:rPr>
              <a:t>Memorable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959101"/>
            <a:ext cx="196596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200" b="0" noProof="0" dirty="0">
                <a:solidFill>
                  <a:srgbClr val="FFFFFF"/>
                </a:solidFill>
                <a:latin typeface="Aptos"/>
              </a:rPr>
              <a:t>Los símbolos hacen que cada instrucción tenga una imagen asociada.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3154680"/>
            <a:ext cx="2423160" cy="1737360"/>
          </a:xfrm>
          <a:prstGeom prst="roundRect">
            <a:avLst/>
          </a:prstGeom>
          <a:solidFill>
            <a:srgbClr val="1F2D42"/>
          </a:solidFill>
          <a:ln>
            <a:solidFill>
              <a:srgbClr val="1F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3749039" y="3401568"/>
            <a:ext cx="50292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2500" b="0" noProof="0" dirty="0">
                <a:solidFill>
                  <a:srgbClr val="FFFFFF"/>
                </a:solidFill>
                <a:latin typeface="Aptos"/>
              </a:rPr>
              <a:t>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399" y="3493008"/>
            <a:ext cx="1920240" cy="28315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600" b="1" noProof="0" dirty="0">
                <a:solidFill>
                  <a:srgbClr val="7CE92B"/>
                </a:solidFill>
                <a:latin typeface="Aptos"/>
              </a:rPr>
              <a:t>Creativo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63340" y="3909059"/>
            <a:ext cx="196596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200" b="0" noProof="0" dirty="0">
                <a:solidFill>
                  <a:srgbClr val="FFFFFF"/>
                </a:solidFill>
                <a:latin typeface="Aptos"/>
              </a:rPr>
              <a:t>Nos permite experimentar con una sintaxis propia y reconocible.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79" y="3154680"/>
            <a:ext cx="2423160" cy="1737360"/>
          </a:xfrm>
          <a:prstGeom prst="roundRect">
            <a:avLst/>
          </a:prstGeom>
          <a:solidFill>
            <a:srgbClr val="1F2D42"/>
          </a:solidFill>
          <a:ln>
            <a:solidFill>
              <a:srgbClr val="1F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6537959" y="3401568"/>
            <a:ext cx="50292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2500" b="0" noProof="0" dirty="0">
                <a:solidFill>
                  <a:srgbClr val="FFFFFF"/>
                </a:solidFill>
                <a:latin typeface="Aptos"/>
              </a:rPr>
              <a:t>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79" y="3494823"/>
            <a:ext cx="1920240" cy="283154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600" b="1" noProof="0" dirty="0">
                <a:solidFill>
                  <a:srgbClr val="7CE92B"/>
                </a:solidFill>
                <a:latin typeface="Aptos"/>
              </a:rPr>
              <a:t>Didáctico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3906303"/>
            <a:ext cx="1965960" cy="4114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lang="es-ES" sz="1200" b="0" noProof="0" dirty="0">
                <a:solidFill>
                  <a:srgbClr val="FFFFFF"/>
                </a:solidFill>
                <a:latin typeface="Aptos"/>
              </a:rPr>
              <a:t>Los ejemplos muestran variables, decisiones, bucles y funciones.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5577840"/>
            <a:ext cx="8138160" cy="54864"/>
          </a:xfrm>
          <a:prstGeom prst="rect">
            <a:avLst/>
          </a:prstGeom>
          <a:solidFill>
            <a:srgbClr val="7CE92B"/>
          </a:solidFill>
          <a:ln>
            <a:solidFill>
              <a:srgbClr val="7CE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noProof="0" dirty="0"/>
          </a:p>
        </p:txBody>
      </p:sp>
      <p:sp>
        <p:nvSpPr>
          <p:cNvPr id="19" name="TextBox 18"/>
          <p:cNvSpPr txBox="1"/>
          <p:nvPr/>
        </p:nvSpPr>
        <p:spPr>
          <a:xfrm>
            <a:off x="9144000" y="5303520"/>
            <a:ext cx="2194560" cy="3139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lang="es-ES" sz="1800" b="1" noProof="0" dirty="0">
                <a:solidFill>
                  <a:srgbClr val="7CE92B"/>
                </a:solidFill>
                <a:latin typeface="Aptos"/>
              </a:rPr>
              <a:t>EMOJILANG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5715000"/>
            <a:ext cx="2194560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lang="es-ES" sz="2700" b="1" noProof="0" dirty="0">
                <a:solidFill>
                  <a:srgbClr val="FFFFFF"/>
                </a:solidFill>
                <a:latin typeface="Aptos"/>
              </a:rPr>
              <a:t>Gracias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698</Words>
  <Application>Microsoft Office PowerPoint</Application>
  <PresentationFormat>Panorámica</PresentationFormat>
  <Paragraphs>126</Paragraphs>
  <Slides>9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4" baseType="lpstr">
      <vt:lpstr>Aptos</vt:lpstr>
      <vt:lpstr>Arial</vt:lpstr>
      <vt:lpstr>Calibri</vt:lpstr>
      <vt:lpstr>Consolas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Diego Santos Muñoz</cp:lastModifiedBy>
  <cp:revision>5</cp:revision>
  <dcterms:created xsi:type="dcterms:W3CDTF">2013-01-27T09:14:16Z</dcterms:created>
  <dcterms:modified xsi:type="dcterms:W3CDTF">2026-10-08T09:24:19Z</dcterms:modified>
  <cp:category/>
</cp:coreProperties>
</file>