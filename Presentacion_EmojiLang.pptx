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E9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886" autoAdjust="0"/>
  </p:normalViewPr>
  <p:slideViewPr>
    <p:cSldViewPr snapToGrid="0" snapToObjects="1">
      <p:cViewPr varScale="1">
        <p:scale>
          <a:sx n="102" d="100"/>
          <a:sy n="102" d="100"/>
        </p:scale>
        <p:origin x="36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6C3825-FB12-44A8-97C1-E98DECFB0582}" type="datetimeFigureOut">
              <a:rPr lang="es-ES" smtClean="0"/>
              <a:t>08/10/2026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8A5021-876F-4D92-AB39-E6B93FEBC93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27207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A5021-876F-4D92-AB39-E6B93FEBC93C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82804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294312" y="0"/>
            <a:ext cx="2897688" cy="6858000"/>
          </a:xfrm>
          <a:prstGeom prst="rect">
            <a:avLst/>
          </a:prstGeom>
          <a:solidFill>
            <a:srgbClr val="7CE92B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Rounded Rectangle 2"/>
          <p:cNvSpPr/>
          <p:nvPr/>
        </p:nvSpPr>
        <p:spPr>
          <a:xfrm>
            <a:off x="9417276" y="2103120"/>
            <a:ext cx="2651760" cy="265176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7132320" cy="2369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1" noProof="0" dirty="0">
                <a:solidFill>
                  <a:srgbClr val="7CE92B"/>
                </a:solidFill>
                <a:latin typeface="Aptos"/>
              </a:rPr>
              <a:t>Lenguaje de programación inventado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8046720" cy="10515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5200" b="1" noProof="0" dirty="0" err="1">
                <a:solidFill>
                  <a:srgbClr val="FFFFFF"/>
                </a:solidFill>
                <a:latin typeface="Aptos"/>
              </a:rPr>
              <a:t>EmojiLang</a:t>
            </a:r>
            <a:endParaRPr lang="es-ES" sz="5200" b="1" noProof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41248" y="2615184"/>
            <a:ext cx="685800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0" noProof="0" dirty="0">
                <a:solidFill>
                  <a:srgbClr val="F8F6EF"/>
                </a:solidFill>
                <a:latin typeface="Aptos"/>
              </a:rPr>
              <a:t>Programar también puede ser una conversación visual.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3895344"/>
            <a:ext cx="6400800" cy="1609344"/>
          </a:xfrm>
          <a:prstGeom prst="roundRect">
            <a:avLst/>
          </a:prstGeom>
          <a:solidFill>
            <a:srgbClr val="1F2D42"/>
          </a:solidFill>
          <a:ln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1078992" y="4142232"/>
            <a:ext cx="182880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434840"/>
            <a:ext cx="4937760" cy="82176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700" noProof="0" dirty="0">
                <a:solidFill>
                  <a:srgbClr val="FFFFFF"/>
                </a:solidFill>
                <a:latin typeface="Aptos"/>
              </a:rPr>
              <a:t>Jorge Pérez</a:t>
            </a:r>
            <a:r>
              <a:rPr lang="es-ES" sz="1700" b="0" noProof="0" dirty="0">
                <a:solidFill>
                  <a:srgbClr val="FFFFFF"/>
                </a:solidFill>
                <a:latin typeface="Aptos"/>
              </a:rPr>
              <a:t>
</a:t>
            </a:r>
            <a:r>
              <a:rPr lang="es-ES" sz="1700" noProof="0" dirty="0">
                <a:solidFill>
                  <a:srgbClr val="FFFFFF"/>
                </a:solidFill>
                <a:latin typeface="Aptos"/>
              </a:rPr>
              <a:t>José </a:t>
            </a:r>
            <a:r>
              <a:rPr lang="es-ES" sz="1700" noProof="0" dirty="0" err="1">
                <a:solidFill>
                  <a:srgbClr val="FFFFFF"/>
                </a:solidFill>
                <a:latin typeface="Aptos"/>
              </a:rPr>
              <a:t>Ubiera</a:t>
            </a:r>
            <a:r>
              <a:rPr lang="es-ES" sz="1700" b="0" noProof="0" dirty="0">
                <a:solidFill>
                  <a:srgbClr val="FFFFFF"/>
                </a:solidFill>
                <a:latin typeface="Aptos"/>
              </a:rPr>
              <a:t>
Diego Santos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236208"/>
            <a:ext cx="457200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Lenguajes y paradigmas · 2026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FC639260-A45C-EF5E-398C-201E52F9D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1512" y="2384385"/>
            <a:ext cx="2089229" cy="20892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Índice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48320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Un lenguaje con emojis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02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02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01368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800" b="1" noProof="0" dirty="0">
                <a:solidFill>
                  <a:srgbClr val="121B2B"/>
                </a:solidFill>
                <a:latin typeface="Aptos"/>
              </a:rPr>
              <a:t>La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28800"/>
            <a:ext cx="6217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Qué es </a:t>
            </a:r>
            <a:r>
              <a:rPr lang="es-ES" sz="1500" b="0" noProof="0" dirty="0" err="1">
                <a:solidFill>
                  <a:srgbClr val="687485"/>
                </a:solidFill>
                <a:latin typeface="Aptos"/>
              </a:rPr>
              <a:t>EmojiLang</a:t>
            </a:r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 y cómo se organiza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2286000"/>
            <a:ext cx="9418320" cy="13716"/>
          </a:xfrm>
          <a:prstGeom prst="rect">
            <a:avLst/>
          </a:prstGeom>
          <a:solidFill>
            <a:srgbClr val="DCE1E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502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78608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800" b="1" noProof="0" dirty="0">
                <a:solidFill>
                  <a:srgbClr val="121B2B"/>
                </a:solidFill>
                <a:latin typeface="Aptos"/>
              </a:rPr>
              <a:t>El diccionario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606040"/>
            <a:ext cx="6217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Emojis, operadores, tipos y alias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063240"/>
            <a:ext cx="9418320" cy="13716"/>
          </a:xfrm>
          <a:prstGeom prst="rect">
            <a:avLst/>
          </a:prstGeom>
          <a:solidFill>
            <a:srgbClr val="DCE1E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502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355848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800" b="1" noProof="0" dirty="0">
                <a:solidFill>
                  <a:srgbClr val="121B2B"/>
                </a:solidFill>
                <a:latin typeface="Aptos"/>
              </a:rPr>
              <a:t>El intérprete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383280"/>
            <a:ext cx="6217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Cómo convierte los símbolos en acciones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3840480"/>
            <a:ext cx="9418320" cy="13716"/>
          </a:xfrm>
          <a:prstGeom prst="rect">
            <a:avLst/>
          </a:prstGeom>
          <a:solidFill>
            <a:srgbClr val="DCE1E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" y="4160520"/>
            <a:ext cx="502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33087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800" b="1" noProof="0" dirty="0">
                <a:solidFill>
                  <a:srgbClr val="121B2B"/>
                </a:solidFill>
                <a:latin typeface="Aptos"/>
              </a:rPr>
              <a:t>Ejemplos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160520"/>
            <a:ext cx="6217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Calculadora, Fibonacci, texto y temperatura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00200" y="4617720"/>
            <a:ext cx="9418320" cy="13716"/>
          </a:xfrm>
          <a:prstGeom prst="rect">
            <a:avLst/>
          </a:prstGeom>
          <a:solidFill>
            <a:srgbClr val="DCE1E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822960" y="4937760"/>
            <a:ext cx="502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Apto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910328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800" b="1" noProof="0" dirty="0">
                <a:solidFill>
                  <a:srgbClr val="121B2B"/>
                </a:solidFill>
                <a:latin typeface="Aptos"/>
              </a:rPr>
              <a:t>La elección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937760"/>
            <a:ext cx="6217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Por qué diseñamos este lenguaje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5394960"/>
            <a:ext cx="9418320" cy="13716"/>
          </a:xfrm>
          <a:prstGeom prst="rect">
            <a:avLst/>
          </a:prstGeom>
          <a:solidFill>
            <a:srgbClr val="DCE1E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01 · 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El diccionario de </a:t>
            </a:r>
            <a:r>
              <a:rPr lang="es-ES" sz="2900" b="1" noProof="0" dirty="0" err="1">
                <a:solidFill>
                  <a:srgbClr val="121B2B"/>
                </a:solidFill>
                <a:latin typeface="Aptos"/>
              </a:rPr>
              <a:t>EmojiLang</a:t>
            </a:r>
            <a:endParaRPr lang="es-ES" sz="2900" b="1" noProof="0" dirty="0">
              <a:solidFill>
                <a:srgbClr val="121B2B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03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48463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 err="1">
                <a:solidFill>
                  <a:srgbClr val="7CE92B"/>
                </a:solidFill>
                <a:latin typeface="Consolas"/>
              </a:rPr>
              <a:t>diccionario_emojis</a:t>
            </a:r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 (1).</a:t>
            </a:r>
            <a:r>
              <a:rPr lang="es-ES" sz="1200" b="1" noProof="0" dirty="0" err="1">
                <a:solidFill>
                  <a:srgbClr val="7CE92B"/>
                </a:solidFill>
                <a:latin typeface="Consolas"/>
              </a:rPr>
              <a:t>py</a:t>
            </a:r>
            <a:endParaRPr lang="es-ES" sz="1200" b="1" noProof="0" dirty="0">
              <a:solidFill>
                <a:srgbClr val="7CE92B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" y="2011680"/>
            <a:ext cx="512064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200" b="1" noProof="0" dirty="0">
                <a:solidFill>
                  <a:srgbClr val="121B2B"/>
                </a:solidFill>
                <a:latin typeface="Aptos"/>
              </a:rPr>
              <a:t>Es la tabla de traducción oficial del lenguaje.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43200"/>
            <a:ext cx="5166360" cy="185897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Asigna un significado a cada emoji.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Define comandos: imprimir, pedir datos, guardar, repetir y salir.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Incluye operadores, comparadores, tipos de datos y funciones.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Permite escribir alias como :suma, temperatura etc....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74519"/>
            <a:ext cx="4892040" cy="233172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601968" y="2020824"/>
            <a:ext cx="45262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SINTAXIS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2350008"/>
            <a:ext cx="4489703" cy="17099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"🖨️": "IMPRIMIR"
"📦": "GUARDAR_VARIABLE"
"➕": "+"
"🌡️": "CONVERTIR_TEMPERATURA"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526280"/>
            <a:ext cx="22402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Rectangle 12"/>
          <p:cNvSpPr/>
          <p:nvPr/>
        </p:nvSpPr>
        <p:spPr>
          <a:xfrm>
            <a:off x="6400800" y="4526280"/>
            <a:ext cx="73152" cy="10515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629400" y="4709160"/>
            <a:ext cx="1828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1" noProof="0" dirty="0">
                <a:solidFill>
                  <a:srgbClr val="121B2B"/>
                </a:solidFill>
                <a:latin typeface="Aptos"/>
              </a:rPr>
              <a:t>Comandos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5148072"/>
            <a:ext cx="1828800" cy="29260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1B2738"/>
                </a:solidFill>
                <a:latin typeface="Aptos"/>
              </a:rPr>
              <a:t>🖨️  📦  🤔  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7968" y="4526280"/>
            <a:ext cx="2404872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7" name="Rectangle 16"/>
          <p:cNvSpPr/>
          <p:nvPr/>
        </p:nvSpPr>
        <p:spPr>
          <a:xfrm>
            <a:off x="8887968" y="4526280"/>
            <a:ext cx="73152" cy="10515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9116568" y="4709160"/>
            <a:ext cx="1993391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1" noProof="0" dirty="0">
                <a:solidFill>
                  <a:srgbClr val="121B2B"/>
                </a:solidFill>
                <a:latin typeface="Aptos"/>
              </a:rPr>
              <a:t>Alias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5148072"/>
            <a:ext cx="1993391" cy="29260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0" noProof="0" dirty="0">
                <a:solidFill>
                  <a:srgbClr val="1B2738"/>
                </a:solidFill>
                <a:latin typeface="Aptos"/>
              </a:rPr>
              <a:t>:suma:  :si:  :</a:t>
            </a:r>
            <a:r>
              <a:rPr lang="es-ES" sz="1200" b="0" noProof="0" dirty="0" err="1">
                <a:solidFill>
                  <a:srgbClr val="1B2738"/>
                </a:solidFill>
                <a:latin typeface="Aptos"/>
              </a:rPr>
              <a:t>celsius</a:t>
            </a:r>
            <a:r>
              <a:rPr lang="es-ES" sz="1200" b="0" noProof="0" dirty="0">
                <a:solidFill>
                  <a:srgbClr val="1B2738"/>
                </a:solidFill>
                <a:latin typeface="Aptos"/>
              </a:rPr>
              <a:t>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02 · MOTOR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48320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El intérprete: pasar de un emoji a una acción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04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3931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 err="1">
                <a:solidFill>
                  <a:srgbClr val="7CE92B"/>
                </a:solidFill>
                <a:latin typeface="Consolas"/>
              </a:rPr>
              <a:t>emojilang</a:t>
            </a:r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 (1).</a:t>
            </a:r>
            <a:r>
              <a:rPr lang="es-ES" sz="1200" b="1" noProof="0" dirty="0" err="1">
                <a:solidFill>
                  <a:srgbClr val="7CE92B"/>
                </a:solidFill>
                <a:latin typeface="Consolas"/>
              </a:rPr>
              <a:t>py</a:t>
            </a:r>
            <a:endParaRPr lang="es-ES" sz="1200" b="1" noProof="0" dirty="0">
              <a:solidFill>
                <a:srgbClr val="7CE92B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" y="2011680"/>
            <a:ext cx="566928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200" b="1" noProof="0" dirty="0">
                <a:solidFill>
                  <a:srgbClr val="121B2B"/>
                </a:solidFill>
                <a:latin typeface="Aptos"/>
              </a:rPr>
              <a:t>Un pequeño motor que ejecuta programas </a:t>
            </a:r>
            <a:r>
              <a:rPr lang="es-ES" sz="2200" b="1" noProof="0" dirty="0" err="1">
                <a:solidFill>
                  <a:srgbClr val="121B2B"/>
                </a:solidFill>
                <a:latin typeface="Aptos"/>
              </a:rPr>
              <a:t>EmojiLang</a:t>
            </a:r>
            <a:r>
              <a:rPr lang="es-ES" sz="2200" b="1" noProof="0" dirty="0">
                <a:solidFill>
                  <a:srgbClr val="121B2B"/>
                </a:solidFill>
                <a:latin typeface="Aptos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26080"/>
            <a:ext cx="1508760" cy="1353312"/>
          </a:xfrm>
          <a:prstGeom prst="roundRect">
            <a:avLst/>
          </a:prstGeom>
          <a:solidFill>
            <a:srgbClr val="48C9CC"/>
          </a:solidFill>
          <a:ln>
            <a:solidFill>
              <a:srgbClr val="48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41248" y="3127248"/>
            <a:ext cx="3657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1" noProof="0" dirty="0">
                <a:solidFill>
                  <a:srgbClr val="121B2B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950" y="3080901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700" b="1" noProof="0" dirty="0">
                <a:solidFill>
                  <a:srgbClr val="121B2B"/>
                </a:solidFill>
                <a:latin typeface="Aptos"/>
              </a:rPr>
              <a:t>Lee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01568"/>
            <a:ext cx="11887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0" noProof="0" dirty="0">
                <a:solidFill>
                  <a:srgbClr val="121B2B"/>
                </a:solidFill>
                <a:latin typeface="Aptos"/>
              </a:rPr>
              <a:t>separa el programa en líneas y bloques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2926080"/>
            <a:ext cx="1508760" cy="1353312"/>
          </a:xfrm>
          <a:prstGeom prst="roundRect">
            <a:avLst/>
          </a:prstGeom>
          <a:solidFill>
            <a:srgbClr val="F6C14F"/>
          </a:solidFill>
          <a:ln>
            <a:solidFill>
              <a:srgbClr val="F6C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2761488" y="3127248"/>
            <a:ext cx="3657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1" noProof="0" dirty="0">
                <a:solidFill>
                  <a:srgbClr val="121B2B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3090171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700" b="1" noProof="0" dirty="0">
                <a:solidFill>
                  <a:srgbClr val="121B2B"/>
                </a:solidFill>
                <a:latin typeface="Aptos"/>
              </a:rPr>
              <a:t>Interpreta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0819" y="3427577"/>
            <a:ext cx="11887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0" noProof="0" dirty="0">
                <a:solidFill>
                  <a:srgbClr val="121B2B"/>
                </a:solidFill>
                <a:latin typeface="Aptos"/>
              </a:rPr>
              <a:t>reconoce comandos, variables y expresiones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2926080"/>
            <a:ext cx="1508760" cy="1353312"/>
          </a:xfrm>
          <a:prstGeom prst="roundRect">
            <a:avLst/>
          </a:prstGeom>
          <a:solidFill>
            <a:srgbClr val="EF6F6C"/>
          </a:solidFill>
          <a:ln>
            <a:solidFill>
              <a:srgbClr val="EF6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4681728" y="3127248"/>
            <a:ext cx="3657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1" noProof="0" dirty="0">
                <a:solidFill>
                  <a:srgbClr val="121B2B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3080776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700" b="1" noProof="0" dirty="0">
                <a:solidFill>
                  <a:srgbClr val="121B2B"/>
                </a:solidFill>
                <a:latin typeface="Aptos"/>
              </a:rPr>
              <a:t>Ejecuta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3001" y="3451108"/>
            <a:ext cx="11887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0" noProof="0" dirty="0">
                <a:solidFill>
                  <a:srgbClr val="121B2B"/>
                </a:solidFill>
                <a:latin typeface="Aptos"/>
              </a:rPr>
              <a:t>calcula, pregunta datos y muestra resultados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1965960"/>
            <a:ext cx="4434840" cy="214884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7013448" y="2112264"/>
            <a:ext cx="40690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EJEMPLO DE EJECUCIÓN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2441448"/>
            <a:ext cx="4032503" cy="1527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📦 resultado = 8 ➕ 4
🖨️ resultado
→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4480560"/>
            <a:ext cx="41605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700" b="1" noProof="0" dirty="0">
                <a:solidFill>
                  <a:srgbClr val="1B2738"/>
                </a:solidFill>
                <a:latin typeface="Aptos"/>
              </a:rPr>
              <a:t>También controla errores, condiciones y bucles con llaves { }.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03 · EJEMPLO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Calculadora interactiva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05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53949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calculadora.py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029968"/>
            <a:ext cx="548640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1" noProof="0" dirty="0">
                <a:solidFill>
                  <a:srgbClr val="121B2B"/>
                </a:solidFill>
                <a:latin typeface="Aptos"/>
              </a:rPr>
              <a:t>Una calculadora escrita con menús y emojis.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88920"/>
            <a:ext cx="5303520" cy="224028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Presenta las opciones Calcular o Salir.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Recibe una operación, por ejemplo: 12 + 4.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Guarda el resultado en una variable y lo imprime.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828800"/>
            <a:ext cx="4892040" cy="242316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647688" y="1975104"/>
            <a:ext cx="45262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SINTAXIS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2304288"/>
            <a:ext cx="4489703" cy="180136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🖨️ "1️⃣ Calcular"
⌨️ operación
📦 🍎 = 🧮 operación
🖨️ 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617720"/>
            <a:ext cx="4892040" cy="868680"/>
          </a:xfrm>
          <a:prstGeom prst="round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6656832" y="4782312"/>
            <a:ext cx="210312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121B2B"/>
                </a:solidFill>
                <a:latin typeface="Aptos"/>
              </a:rPr>
              <a:t>RESULTADO / EXPERIENCIA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5029200"/>
            <a:ext cx="4343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121B2B"/>
                </a:solidFill>
                <a:latin typeface="Aptos"/>
              </a:rPr>
              <a:t>Entrada: 12 + 4   →   Salida: 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04 · EJEMPLO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Secuencia de Fibonacci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06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53949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fibonacci2.py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029968"/>
            <a:ext cx="548640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1" noProof="0" dirty="0">
                <a:solidFill>
                  <a:srgbClr val="121B2B"/>
                </a:solidFill>
                <a:latin typeface="Aptos"/>
              </a:rPr>
              <a:t>Un bucle genera tantos términos como indique el usuario.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88920"/>
            <a:ext cx="5303520" cy="224028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Empieza con 0 y 1.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En cada vuelta suma los dos valores anteriores.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Valida que el número de términos sea mayor que cero.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828800"/>
            <a:ext cx="4892040" cy="242316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647688" y="1975104"/>
            <a:ext cx="45262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SINTAXIS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2304288"/>
            <a:ext cx="4489703" cy="180136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📦 🅰️ = 0
📦 🅱️ = 1
🔄 ⭐ {
  🖨️ 🅰️
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617720"/>
            <a:ext cx="4892040" cy="868680"/>
          </a:xfrm>
          <a:prstGeom prst="round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6656832" y="4782312"/>
            <a:ext cx="210312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121B2B"/>
                </a:solidFill>
                <a:latin typeface="Aptos"/>
              </a:rPr>
              <a:t>RESULTADO / EXPERIENCIA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5029200"/>
            <a:ext cx="4343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121B2B"/>
                </a:solidFill>
                <a:latin typeface="Aptos"/>
              </a:rPr>
              <a:t>Entrada: 6   →   0, 1, 1, 2, 3,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05 · EJEMPLO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48320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Reemplazo de letras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07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53949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RemplazoPalabras.py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029968"/>
            <a:ext cx="5486400" cy="6832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1" noProof="0" dirty="0">
                <a:solidFill>
                  <a:srgbClr val="121B2B"/>
                </a:solidFill>
                <a:latin typeface="Aptos"/>
              </a:rPr>
              <a:t>Una operación sencilla para transformar letras.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88920"/>
            <a:ext cx="5303520" cy="1017715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Pide un texto original.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Pide la letra que se busca y su sustituta.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Usa 🔧 para reemplazar y muestra el nuevo texto.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828800"/>
            <a:ext cx="4892040" cy="242316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647688" y="1975104"/>
            <a:ext cx="45262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SINTAXIS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2304288"/>
            <a:ext cx="4489703" cy="180136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⌨️ 🧾  texto
⌨️ 🔎  buscar
⌨️ ✨  sustituir
📦 📄 = 🔧 🧾 🔎 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617719"/>
            <a:ext cx="4892040" cy="1050307"/>
          </a:xfrm>
          <a:prstGeom prst="round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6656832" y="4782312"/>
            <a:ext cx="210312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121B2B"/>
                </a:solidFill>
                <a:latin typeface="Aptos"/>
              </a:rPr>
              <a:t>RESULTADO / EXPERIENCIA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5029200"/>
            <a:ext cx="4343400" cy="28315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121B2B"/>
                </a:solidFill>
                <a:latin typeface="Aptos"/>
              </a:rPr>
              <a:t>"Hola mundo" → cambiar “a" por “e"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06 · EJEMPLO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Conversor de temperatura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08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53949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Temperatura.py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029968"/>
            <a:ext cx="548640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1" noProof="0" dirty="0">
                <a:solidFill>
                  <a:srgbClr val="121B2B"/>
                </a:solidFill>
                <a:latin typeface="Aptos"/>
              </a:rPr>
              <a:t>Convierte entre Celsius, Fahrenheit y Kelvin.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88920"/>
            <a:ext cx="5303520" cy="224028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Solicita el valor y la unidad de origen.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Solicita la unidad de destino.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🌡️ realiza la conversión y muestra el resultado.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828800"/>
            <a:ext cx="4892040" cy="242316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647688" y="1975104"/>
            <a:ext cx="45262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SINTAXIS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2304288"/>
            <a:ext cx="4489703" cy="180136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⌨️ 🧪  valor
⌨️ 🅾️  origen
⌨️ 🅳  destino
📦 🆁 = 🌡️ 🧪 🅾️ 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617720"/>
            <a:ext cx="4892040" cy="868680"/>
          </a:xfrm>
          <a:prstGeom prst="round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6656832" y="4782312"/>
            <a:ext cx="210312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121B2B"/>
                </a:solidFill>
                <a:latin typeface="Aptos"/>
              </a:rPr>
              <a:t>RESULTADO / EXPERIENCIA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5029200"/>
            <a:ext cx="4343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121B2B"/>
                </a:solidFill>
                <a:latin typeface="Aptos"/>
              </a:rPr>
              <a:t>25 °C   →   77 °F   →   298.15 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94360"/>
            <a:ext cx="2743200" cy="2062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1" noProof="0" dirty="0">
                <a:solidFill>
                  <a:srgbClr val="7CE92B"/>
                </a:solidFill>
                <a:latin typeface="Aptos"/>
              </a:rPr>
              <a:t>07 · 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77724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3800" b="1" noProof="0" dirty="0">
                <a:solidFill>
                  <a:srgbClr val="FFFFFF"/>
                </a:solidFill>
                <a:latin typeface="Aptos"/>
              </a:rPr>
              <a:t>¿Por qué </a:t>
            </a:r>
            <a:r>
              <a:rPr lang="es-ES" sz="3800" b="1" noProof="0" dirty="0" err="1">
                <a:solidFill>
                  <a:srgbClr val="FFFFFF"/>
                </a:solidFill>
                <a:latin typeface="Aptos"/>
              </a:rPr>
              <a:t>EmojiLang</a:t>
            </a:r>
            <a:r>
              <a:rPr lang="es-ES" sz="3800" b="1" noProof="0" dirty="0">
                <a:solidFill>
                  <a:srgbClr val="FFFFFF"/>
                </a:solidFill>
                <a:latin typeface="Aptos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883664"/>
            <a:ext cx="7955279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0" noProof="0" dirty="0">
                <a:solidFill>
                  <a:srgbClr val="F8F6EF"/>
                </a:solidFill>
                <a:latin typeface="Aptos"/>
              </a:rPr>
              <a:t>Elegimos este lenguaje porque convierte la programación en algo visual, cercano y fácil de recordar.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154680"/>
            <a:ext cx="2423160" cy="1737360"/>
          </a:xfrm>
          <a:prstGeom prst="roundRect">
            <a:avLst/>
          </a:prstGeom>
          <a:solidFill>
            <a:srgbClr val="1F2D42"/>
          </a:solidFill>
          <a:ln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3401568"/>
            <a:ext cx="502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500" b="0" noProof="0" dirty="0">
                <a:solidFill>
                  <a:srgbClr val="FFFFFF"/>
                </a:solidFill>
                <a:latin typeface="Aptos"/>
              </a:rP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493008"/>
            <a:ext cx="1920240" cy="28315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7CE92B"/>
                </a:solidFill>
                <a:latin typeface="Aptos"/>
              </a:rPr>
              <a:t>Memorable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959101"/>
            <a:ext cx="196596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0" noProof="0" dirty="0">
                <a:solidFill>
                  <a:srgbClr val="FFFFFF"/>
                </a:solidFill>
                <a:latin typeface="Aptos"/>
              </a:rPr>
              <a:t>Los símbolos hacen que cada instrucción tenga una imagen asociada.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154680"/>
            <a:ext cx="2423160" cy="1737360"/>
          </a:xfrm>
          <a:prstGeom prst="roundRect">
            <a:avLst/>
          </a:prstGeom>
          <a:solidFill>
            <a:srgbClr val="1F2D42"/>
          </a:solidFill>
          <a:ln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3749039" y="3401568"/>
            <a:ext cx="502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500" b="0" noProof="0" dirty="0">
                <a:solidFill>
                  <a:srgbClr val="FFFFFF"/>
                </a:solidFill>
                <a:latin typeface="Aptos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399" y="3493008"/>
            <a:ext cx="1920240" cy="28315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7CE92B"/>
                </a:solidFill>
                <a:latin typeface="Aptos"/>
              </a:rPr>
              <a:t>Creativo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3340" y="3909059"/>
            <a:ext cx="196596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0" noProof="0" dirty="0">
                <a:solidFill>
                  <a:srgbClr val="FFFFFF"/>
                </a:solidFill>
                <a:latin typeface="Aptos"/>
              </a:rPr>
              <a:t>Nos permite experimentar con una sintaxis propia y reconocible.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79" y="3154680"/>
            <a:ext cx="2423160" cy="1737360"/>
          </a:xfrm>
          <a:prstGeom prst="roundRect">
            <a:avLst/>
          </a:prstGeom>
          <a:solidFill>
            <a:srgbClr val="1F2D42"/>
          </a:solidFill>
          <a:ln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537959" y="3401568"/>
            <a:ext cx="502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500" b="0" noProof="0" dirty="0">
                <a:solidFill>
                  <a:srgbClr val="FFFFFF"/>
                </a:solidFill>
                <a:latin typeface="Aptos"/>
              </a:rPr>
              <a:t>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79" y="3494823"/>
            <a:ext cx="1920240" cy="28315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7CE92B"/>
                </a:solidFill>
                <a:latin typeface="Aptos"/>
              </a:rPr>
              <a:t>Didáctico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3906303"/>
            <a:ext cx="196596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0" noProof="0" dirty="0">
                <a:solidFill>
                  <a:srgbClr val="FFFFFF"/>
                </a:solidFill>
                <a:latin typeface="Aptos"/>
              </a:rPr>
              <a:t>Los ejemplos muestran variables, decisiones, bucles y funciones.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577840"/>
            <a:ext cx="8138160" cy="54864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9144000" y="5303520"/>
            <a:ext cx="2194560" cy="3139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800" b="1" noProof="0" dirty="0">
                <a:solidFill>
                  <a:srgbClr val="7CE92B"/>
                </a:solidFill>
                <a:latin typeface="Aptos"/>
              </a:rPr>
              <a:t>EMOJILANG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715000"/>
            <a:ext cx="219456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2700" b="1" noProof="0" dirty="0">
                <a:solidFill>
                  <a:srgbClr val="FFFFFF"/>
                </a:solidFill>
                <a:latin typeface="Aptos"/>
              </a:rPr>
              <a:t>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698</Words>
  <Application>Microsoft Office PowerPoint</Application>
  <PresentationFormat>Panorámica</PresentationFormat>
  <Paragraphs>126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cp:lastModifiedBy>Diego Santos Muñoz</cp:lastModifiedBy>
  <cp:revision>5</cp:revision>
  <dcterms:created xsi:type="dcterms:W3CDTF">2013-01-27T09:14:16Z</dcterms:created>
  <dcterms:modified xsi:type="dcterms:W3CDTF">2026-10-08T09:24:19Z</dcterms:modified>
  <cp:category/>
</cp:coreProperties>
</file>